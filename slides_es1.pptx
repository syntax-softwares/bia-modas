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4.xml" ContentType="application/vnd.openxmlformats-officedocument.presentationml.slide+xml"/>
  <Override PartName="/ppt/slides/slide11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5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9144000"/>
  <p:notesSz cx="9144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88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3454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7985100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802238541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16303011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0846764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890339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23147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70254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51058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8963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17056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43653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6623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31920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24317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1043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92590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608401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29457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14233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013213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23332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17192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54320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0090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48294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131620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14406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1171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88907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09292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63431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23738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3071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836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415752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584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57162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89709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46992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3823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467676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6423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87265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079429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07504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9974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216767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66994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98516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867271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74429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71145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581990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PPTIST_MASTER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9477555" name="Shape 0"/>
          <p:cNvSpPr/>
          <p:nvPr/>
        </p:nvSpPr>
        <p:spPr bwMode="auto">
          <a:xfrm>
            <a:off x="1007491" y="419989"/>
            <a:ext cx="10363200" cy="19599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80976358" name="Text 1"/>
          <p:cNvSpPr/>
          <p:nvPr/>
        </p:nvSpPr>
        <p:spPr bwMode="auto">
          <a:xfrm>
            <a:off x="1007491" y="419989"/>
            <a:ext cx="10363200" cy="1959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  <a:defRPr/>
            </a:pPr>
            <a:r>
              <a:rPr lang="en-US" sz="58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Projeto Interdisciplinar</a:t>
            </a:r>
            <a:endParaRPr lang="en-US" sz="1600"/>
          </a:p>
          <a:p>
            <a:pPr algn="ctr">
              <a:lnSpc>
                <a:spcPct val="100000"/>
              </a:lnSpc>
              <a:defRPr/>
            </a:pPr>
            <a:r>
              <a:rPr lang="en-US" sz="58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Curso DSM</a:t>
            </a:r>
            <a:endParaRPr lang="en-US" sz="1600"/>
          </a:p>
        </p:txBody>
      </p:sp>
      <p:sp>
        <p:nvSpPr>
          <p:cNvPr id="192302885" name="Text 2"/>
          <p:cNvSpPr/>
          <p:nvPr/>
        </p:nvSpPr>
        <p:spPr bwMode="auto">
          <a:xfrm>
            <a:off x="1054735" y="2612009"/>
            <a:ext cx="103632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48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Bia Modas</a:t>
            </a:r>
            <a:endParaRPr lang="en-US" sz="1600"/>
          </a:p>
        </p:txBody>
      </p:sp>
      <p:sp>
        <p:nvSpPr>
          <p:cNvPr id="1763844620" name="Text 3"/>
          <p:cNvSpPr/>
          <p:nvPr/>
        </p:nvSpPr>
        <p:spPr bwMode="auto">
          <a:xfrm>
            <a:off x="609600" y="3810000"/>
            <a:ext cx="109728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  <a:defRPr/>
            </a:pPr>
            <a:r>
              <a:rPr lang="en-US" sz="2600" b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Equipe:</a:t>
            </a:r>
            <a:endParaRPr lang="en-US" sz="1600"/>
          </a:p>
          <a:p>
            <a:pPr algn="ctr">
              <a:lnSpc>
                <a:spcPct val="140000"/>
              </a:lnSpc>
              <a:defRPr/>
            </a:pPr>
            <a:r>
              <a:rPr lang="en-US" sz="26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Gabriel Maciel</a:t>
            </a:r>
            <a:endParaRPr lang="en-US" sz="1600"/>
          </a:p>
          <a:p>
            <a:pPr algn="ctr">
              <a:lnSpc>
                <a:spcPct val="140000"/>
              </a:lnSpc>
              <a:defRPr/>
            </a:pPr>
            <a:r>
              <a:rPr lang="en-US" sz="26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Joaquim</a:t>
            </a:r>
            <a:endParaRPr lang="en-US" sz="1600"/>
          </a:p>
          <a:p>
            <a:pPr algn="ctr">
              <a:lnSpc>
                <a:spcPct val="140000"/>
              </a:lnSpc>
              <a:defRPr/>
            </a:pPr>
            <a:r>
              <a:rPr lang="en-US" sz="26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Thiago Mazzi</a:t>
            </a:r>
            <a:endParaRPr lang="en-US" sz="1600"/>
          </a:p>
          <a:p>
            <a:pPr algn="ctr">
              <a:lnSpc>
                <a:spcPct val="140000"/>
              </a:lnSpc>
              <a:defRPr/>
            </a:pPr>
            <a:r>
              <a:rPr lang="en-US" sz="26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Luis Guilherme</a:t>
            </a:r>
            <a:endParaRPr lang="en-US" sz="1600"/>
          </a:p>
          <a:p>
            <a:pPr algn="ctr">
              <a:lnSpc>
                <a:spcPct val="140000"/>
              </a:lnSpc>
              <a:defRPr/>
            </a:pPr>
            <a:r>
              <a:rPr lang="en-US" sz="26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João Victor</a:t>
            </a:r>
            <a:endParaRPr lang="en-US" sz="1600"/>
          </a:p>
        </p:txBody>
      </p:sp>
      <p:pic>
        <p:nvPicPr>
          <p:cNvPr id="349599273" name="Image 0" descr="https://kimi-img.moonshot.cn/pub/slides/okc/wikrooqneapss/mnt/agents/output/bia_modas/images/image_1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26153" y="7985379"/>
            <a:ext cx="7651877" cy="11243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024575" name="Shape 0"/>
          <p:cNvSpPr/>
          <p:nvPr/>
        </p:nvSpPr>
        <p:spPr bwMode="auto">
          <a:xfrm>
            <a:off x="609600" y="366141"/>
            <a:ext cx="10972800" cy="1524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10574028" name="Text 1"/>
          <p:cNvSpPr/>
          <p:nvPr/>
        </p:nvSpPr>
        <p:spPr bwMode="auto">
          <a:xfrm>
            <a:off x="609600" y="366141"/>
            <a:ext cx="109728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  <a:defRPr/>
            </a:pPr>
            <a:r>
              <a:rPr lang="en-US" sz="58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Tema e objetivo</a:t>
            </a:r>
            <a:endParaRPr lang="en-US" sz="1600"/>
          </a:p>
        </p:txBody>
      </p:sp>
      <p:sp>
        <p:nvSpPr>
          <p:cNvPr id="2023066910" name="Shape 2"/>
          <p:cNvSpPr/>
          <p:nvPr/>
        </p:nvSpPr>
        <p:spPr bwMode="auto">
          <a:xfrm>
            <a:off x="609600" y="1968500"/>
            <a:ext cx="10972800" cy="5905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91404899" name="Text 3"/>
          <p:cNvSpPr/>
          <p:nvPr/>
        </p:nvSpPr>
        <p:spPr bwMode="auto">
          <a:xfrm>
            <a:off x="609600" y="1968500"/>
            <a:ext cx="10972800" cy="590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5000"/>
              </a:lnSpc>
              <a:defRPr/>
            </a:pPr>
            <a:r>
              <a:rPr lang="en-US" sz="22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Tema:</a:t>
            </a: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Desenvolvimento de um catálogo digital de produtos de moda plus size com foco prioritário na experiência do usuário (UX).</a:t>
            </a:r>
            <a:endParaRPr lang="en-US" sz="1600"/>
          </a:p>
          <a:p>
            <a:pPr>
              <a:lnSpc>
                <a:spcPct val="135000"/>
              </a:lnSpc>
              <a:defRPr/>
            </a:pPr>
            <a:r>
              <a:rPr lang="en-US" sz="22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Problema:</a:t>
            </a: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61% das pessoas plus size relatam dificuldade para encontrar roupas adequadas. No e-commerce, 90% dos sites negligenciam aspectos-chave da experiência de compra.</a:t>
            </a:r>
            <a:endParaRPr lang="en-US" sz="1600"/>
          </a:p>
          <a:p>
            <a:pPr>
              <a:lnSpc>
                <a:spcPct val="135000"/>
              </a:lnSpc>
              <a:defRPr/>
            </a:pPr>
            <a:r>
              <a:rPr lang="en-US" sz="22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Objetivos:</a:t>
            </a:r>
            <a:endParaRPr lang="en-US" sz="1600"/>
          </a:p>
          <a:p>
            <a:pPr>
              <a:lnSpc>
                <a:spcPct val="135000"/>
              </a:lnSpc>
              <a:defRPr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Criar um catálogo digital intuitivo, rápido e visualmente acolhedor</a:t>
            </a:r>
            <a:endParaRPr lang="en-US" sz="1600"/>
          </a:p>
          <a:p>
            <a:pPr>
              <a:lnSpc>
                <a:spcPct val="135000"/>
              </a:lnSpc>
              <a:defRPr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Reduzir a taxa de devolução por problemas de tamanho em 30%</a:t>
            </a:r>
            <a:endParaRPr lang="en-US" sz="1600"/>
          </a:p>
          <a:p>
            <a:pPr>
              <a:lnSpc>
                <a:spcPct val="135000"/>
              </a:lnSpc>
              <a:defRPr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Aumentar a taxa de conversão em 15% no primeiro semestre</a:t>
            </a:r>
            <a:endParaRPr lang="en-US" sz="1600"/>
          </a:p>
          <a:p>
            <a:pPr>
              <a:lnSpc>
                <a:spcPct val="135000"/>
              </a:lnSpc>
              <a:defRPr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Construir uma base de clientes fiéis</a:t>
            </a:r>
            <a:endParaRPr lang="en-US" sz="1600"/>
          </a:p>
          <a:p>
            <a:pPr>
              <a:lnSpc>
                <a:spcPct val="135000"/>
              </a:lnSpc>
              <a:defRPr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Escalar para e-commerce completo</a:t>
            </a:r>
            <a:endParaRPr lang="en-US" sz="1600"/>
          </a:p>
        </p:txBody>
      </p:sp>
      <p:pic>
        <p:nvPicPr>
          <p:cNvPr id="1194701798" name="Image 0" descr="https://kimi-img.moonshot.cn/pub/slides/okc/wikrooqneapss/mnt/agents/output/bia_modas/images/image_1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26153" y="7985379"/>
            <a:ext cx="7651877" cy="11243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0410692" name="Shape 0"/>
          <p:cNvSpPr/>
          <p:nvPr/>
        </p:nvSpPr>
        <p:spPr bwMode="auto">
          <a:xfrm>
            <a:off x="609600" y="366141"/>
            <a:ext cx="10972800" cy="1524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79392257" name="Text 1"/>
          <p:cNvSpPr/>
          <p:nvPr/>
        </p:nvSpPr>
        <p:spPr bwMode="auto">
          <a:xfrm>
            <a:off x="609600" y="366141"/>
            <a:ext cx="109728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  <a:defRPr/>
            </a:pPr>
            <a:r>
              <a:rPr lang="en-US" sz="58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Publico alvo</a:t>
            </a:r>
            <a:endParaRPr lang="en-US" sz="1600"/>
          </a:p>
        </p:txBody>
      </p:sp>
      <p:sp>
        <p:nvSpPr>
          <p:cNvPr id="315136959" name="Shape 2"/>
          <p:cNvSpPr/>
          <p:nvPr/>
        </p:nvSpPr>
        <p:spPr bwMode="auto">
          <a:xfrm>
            <a:off x="609600" y="1968500"/>
            <a:ext cx="10972800" cy="5905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73655273" name="Text 3"/>
          <p:cNvSpPr/>
          <p:nvPr/>
        </p:nvSpPr>
        <p:spPr bwMode="auto">
          <a:xfrm>
            <a:off x="609600" y="1968500"/>
            <a:ext cx="10972800" cy="590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  <a:defRPr/>
            </a:pPr>
            <a:r>
              <a:rPr lang="en-US" sz="22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Perfil do público-alvo:</a:t>
            </a:r>
            <a:endParaRPr lang="en-US" sz="1600"/>
          </a:p>
          <a:p>
            <a:pPr>
              <a:lnSpc>
                <a:spcPct val="130000"/>
              </a:lnSpc>
              <a:defRPr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Mulheres entre 18 a 50 anos (67,29% do segmento)</a:t>
            </a:r>
            <a:endParaRPr lang="en-US" sz="1600"/>
          </a:p>
          <a:p>
            <a:pPr>
              <a:lnSpc>
                <a:spcPct val="130000"/>
              </a:lnSpc>
              <a:defRPr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Público que busca moda inclusiva e representatividade</a:t>
            </a:r>
            <a:endParaRPr lang="en-US" sz="1600"/>
          </a:p>
          <a:p>
            <a:pPr>
              <a:lnSpc>
                <a:spcPct val="130000"/>
              </a:lnSpc>
              <a:defRPr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Clientes que valorizam conforto, estilo e autoestima</a:t>
            </a:r>
            <a:endParaRPr lang="en-US" sz="1600"/>
          </a:p>
          <a:p>
            <a:pPr>
              <a:lnSpc>
                <a:spcPct val="130000"/>
              </a:lnSpc>
              <a:defRPr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Faixa etária principal: 26-40 anos (33,6%)</a:t>
            </a:r>
            <a:endParaRPr lang="en-US" sz="1600"/>
          </a:p>
          <a:p>
            <a:pPr>
              <a:lnSpc>
                <a:spcPct val="130000"/>
              </a:lnSpc>
              <a:defRPr/>
            </a:pPr>
            <a:r>
              <a:rPr lang="en-US" sz="22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Características da consumidora plus size:</a:t>
            </a:r>
            <a:endParaRPr lang="en-US" sz="1600"/>
          </a:p>
          <a:p>
            <a:pPr>
              <a:lnSpc>
                <a:spcPct val="130000"/>
              </a:lnSpc>
              <a:defRPr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Exigente, empoderada e digitalmente ativa</a:t>
            </a:r>
            <a:endParaRPr lang="en-US" sz="1600"/>
          </a:p>
          <a:p>
            <a:pPr>
              <a:lnSpc>
                <a:spcPct val="130000"/>
              </a:lnSpc>
              <a:defRPr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Nativa digital, engajada com compras online</a:t>
            </a:r>
            <a:endParaRPr lang="en-US" sz="1600"/>
          </a:p>
          <a:p>
            <a:pPr>
              <a:lnSpc>
                <a:spcPct val="130000"/>
              </a:lnSpc>
              <a:defRPr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Busca moda, tendência, personalidade e autoestima</a:t>
            </a:r>
            <a:endParaRPr lang="en-US" sz="1600"/>
          </a:p>
          <a:p>
            <a:pPr>
              <a:lnSpc>
                <a:spcPct val="130000"/>
              </a:lnSpc>
              <a:defRPr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Engajada com influenciadores e redes sociais</a:t>
            </a:r>
            <a:endParaRPr lang="en-US" sz="1600"/>
          </a:p>
          <a:p>
            <a:pPr>
              <a:lnSpc>
                <a:spcPct val="130000"/>
              </a:lnSpc>
              <a:defRPr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Faixa de preço preferida: econômico (52,55%)</a:t>
            </a:r>
            <a:endParaRPr lang="en-US" sz="1600"/>
          </a:p>
        </p:txBody>
      </p:sp>
      <p:pic>
        <p:nvPicPr>
          <p:cNvPr id="740644299" name="Image 0" descr="https://kimi-img.moonshot.cn/pub/slides/okc/wikrooqneapss/mnt/agents/output/bia_modas/images/image_1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26153" y="7985379"/>
            <a:ext cx="7651877" cy="11243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9220201" name="Shape 0"/>
          <p:cNvSpPr/>
          <p:nvPr/>
        </p:nvSpPr>
        <p:spPr bwMode="auto">
          <a:xfrm>
            <a:off x="609600" y="366141"/>
            <a:ext cx="10972800" cy="1524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75048063" name="Text 1"/>
          <p:cNvSpPr/>
          <p:nvPr/>
        </p:nvSpPr>
        <p:spPr bwMode="auto">
          <a:xfrm>
            <a:off x="609600" y="366141"/>
            <a:ext cx="109728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  <a:defRPr/>
            </a:pPr>
            <a:r>
              <a:rPr lang="en-US" sz="58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Concorrentes</a:t>
            </a:r>
            <a:endParaRPr lang="en-US" sz="1600"/>
          </a:p>
        </p:txBody>
      </p:sp>
      <p:sp>
        <p:nvSpPr>
          <p:cNvPr id="1738536489" name="Shape 2"/>
          <p:cNvSpPr/>
          <p:nvPr/>
        </p:nvSpPr>
        <p:spPr bwMode="auto">
          <a:xfrm>
            <a:off x="609600" y="1968500"/>
            <a:ext cx="10972800" cy="5905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86649617" name="Text 3"/>
          <p:cNvSpPr/>
          <p:nvPr/>
        </p:nvSpPr>
        <p:spPr bwMode="auto">
          <a:xfrm>
            <a:off x="609600" y="1968500"/>
            <a:ext cx="10972800" cy="590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Principais concorrentes no mercado plus size:</a:t>
            </a:r>
            <a:endParaRPr lang="en-US" sz="1600"/>
          </a:p>
          <a:p>
            <a:pPr>
              <a:lnSpc>
                <a:spcPct val="130000"/>
              </a:lnSpc>
              <a:defRPr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</a:t>
            </a:r>
            <a:r>
              <a:rPr lang="en-US"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Renner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— Marca forte, logística robusta; catálogo limitado, UX genérica</a:t>
            </a:r>
            <a:endParaRPr lang="en-US" sz="1600"/>
          </a:p>
          <a:p>
            <a:pPr>
              <a:lnSpc>
                <a:spcPct val="130000"/>
              </a:lnSpc>
              <a:defRPr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</a:t>
            </a:r>
            <a:r>
              <a:rPr lang="en-US"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Marisa Plus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— Preço acessível, presença nacional; design ultrapassado</a:t>
            </a:r>
            <a:endParaRPr lang="en-US" sz="1600"/>
          </a:p>
          <a:p>
            <a:pPr>
              <a:lnSpc>
                <a:spcPct val="130000"/>
              </a:lnSpc>
              <a:defRPr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</a:t>
            </a:r>
            <a:r>
              <a:rPr lang="en-US"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Shein e C&amp;A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— Grandes players com ameaça competitiva</a:t>
            </a:r>
            <a:endParaRPr lang="en-US" sz="1600"/>
          </a:p>
          <a:p>
            <a:pPr>
              <a:lnSpc>
                <a:spcPct val="13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Diferenciais competitivos do Bia Modas:</a:t>
            </a:r>
            <a:endParaRPr lang="en-US" sz="1600"/>
          </a:p>
          <a:p>
            <a:pPr>
              <a:lnSpc>
                <a:spcPct val="130000"/>
              </a:lnSpc>
              <a:defRPr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Catálogo 100% focado em plus size</a:t>
            </a:r>
            <a:endParaRPr lang="en-US" sz="1600"/>
          </a:p>
          <a:p>
            <a:pPr>
              <a:lnSpc>
                <a:spcPct val="130000"/>
              </a:lnSpc>
              <a:defRPr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Fotos em modelos plus size reais com diversidade de corpos</a:t>
            </a:r>
            <a:endParaRPr lang="en-US" sz="1600"/>
          </a:p>
          <a:p>
            <a:pPr>
              <a:lnSpc>
                <a:spcPct val="130000"/>
              </a:lnSpc>
              <a:defRPr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Guia de tamanhos antropométrico com medidas detalhadas</a:t>
            </a:r>
            <a:endParaRPr lang="en-US" sz="1600"/>
          </a:p>
          <a:p>
            <a:pPr>
              <a:lnSpc>
                <a:spcPct val="130000"/>
              </a:lnSpc>
              <a:defRPr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Recomendação de tamanho assistida por IA</a:t>
            </a:r>
            <a:endParaRPr lang="en-US" sz="1600"/>
          </a:p>
          <a:p>
            <a:pPr>
              <a:lnSpc>
                <a:spcPct val="130000"/>
              </a:lnSpc>
              <a:defRPr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Interface acolhedora e linguagem inclusiva</a:t>
            </a:r>
            <a:endParaRPr lang="en-US" sz="1600"/>
          </a:p>
          <a:p>
            <a:pPr>
              <a:lnSpc>
                <a:spcPct val="130000"/>
              </a:lnSpc>
              <a:defRPr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Filtros específicos: tipo de corpo, compressão, elasticidade</a:t>
            </a:r>
            <a:endParaRPr lang="en-US" sz="1600"/>
          </a:p>
        </p:txBody>
      </p:sp>
      <p:pic>
        <p:nvPicPr>
          <p:cNvPr id="1178683668" name="Image 0" descr="https://kimi-img.moonshot.cn/pub/slides/okc/wikrooqneapss/mnt/agents/output/bia_modas/images/image_1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26153" y="7985379"/>
            <a:ext cx="7651877" cy="11243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4860069" name="Shape 0"/>
          <p:cNvSpPr/>
          <p:nvPr/>
        </p:nvSpPr>
        <p:spPr bwMode="auto">
          <a:xfrm>
            <a:off x="609600" y="366141"/>
            <a:ext cx="10972800" cy="1397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46216795" name="Text 1"/>
          <p:cNvSpPr/>
          <p:nvPr/>
        </p:nvSpPr>
        <p:spPr bwMode="auto">
          <a:xfrm>
            <a:off x="609600" y="366141"/>
            <a:ext cx="10972800" cy="1397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  <a:defRPr/>
            </a:pPr>
            <a:r>
              <a:rPr lang="en-US" sz="3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Documentacao &gt;&gt; Estudo de Viabilidade</a:t>
            </a:r>
            <a:endParaRPr lang="en-US" sz="1600"/>
          </a:p>
        </p:txBody>
      </p:sp>
      <p:sp>
        <p:nvSpPr>
          <p:cNvPr id="1869108100" name="Text 2"/>
          <p:cNvSpPr/>
          <p:nvPr/>
        </p:nvSpPr>
        <p:spPr bwMode="auto">
          <a:xfrm>
            <a:off x="609600" y="1803400"/>
            <a:ext cx="10972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  <a:defRPr/>
            </a:pPr>
            <a:r>
              <a:rPr lang="en-US" sz="2000" b="1">
                <a:solidFill>
                  <a:srgbClr val="505050"/>
                </a:solidFill>
                <a:latin typeface="Calibri"/>
                <a:ea typeface="Calibri"/>
                <a:cs typeface="Calibri"/>
              </a:rPr>
              <a:t>1. Resumo Executivo</a:t>
            </a:r>
            <a:endParaRPr lang="en-US" sz="1600"/>
          </a:p>
        </p:txBody>
      </p:sp>
      <p:sp>
        <p:nvSpPr>
          <p:cNvPr id="24029392" name="Text 3"/>
          <p:cNvSpPr/>
          <p:nvPr/>
        </p:nvSpPr>
        <p:spPr bwMode="auto">
          <a:xfrm>
            <a:off x="609600" y="2311399"/>
            <a:ext cx="109728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  <a:defRPr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Este estudo analisa o desenvolvimento de um catálogo de produtos de moda plus size com foco prioritário na experiência do usuário (UX). O mercado plus size brasileiro movimentou </a:t>
            </a:r>
            <a:r>
              <a:rPr lang="en-US" sz="16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R$ 9,6 bilhões em 2021</a:t>
            </a: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e deve atingir </a:t>
            </a:r>
            <a:r>
              <a:rPr lang="en-US" sz="16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R$ 15 bilhões até 2027</a:t>
            </a: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 Globalmente, o mercado foi avaliado em </a:t>
            </a:r>
            <a:r>
              <a:rPr lang="en-US" sz="16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US$ 244,85 bilhões em 2025</a:t>
            </a: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 A proposta é viável tecnicamente e economicamente.</a:t>
            </a:r>
            <a:endParaRPr lang="en-US" sz="1600"/>
          </a:p>
        </p:txBody>
      </p:sp>
      <p:graphicFrame>
        <p:nvGraphicFramePr>
          <p:cNvPr id="1731322008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609600" y="4318000"/>
          <a:ext cx="10972800" cy="35560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4937760"/>
                <a:gridCol w="6035039"/>
              </a:tblGrid>
              <a:tr h="433348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6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Indicador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6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Valor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4F81BD"/>
                    </a:solidFill>
                  </a:tcPr>
                </a:tc>
              </a:tr>
              <a:tr h="624530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6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Status do Projeto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6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Viavel — Recomenda-se execucao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4530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6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Prazo Estimado (MVP)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6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 a 10 semanas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EDF2F7"/>
                    </a:solidFill>
                  </a:tcPr>
                </a:tc>
              </a:tr>
              <a:tr h="624530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6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Equipe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6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 Desenvolvedores Full-stack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4530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6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Custo Inicial Estimado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6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R$ 0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EDF2F7"/>
                    </a:solidFill>
                  </a:tcPr>
                </a:tc>
              </a:tr>
              <a:tr h="624530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6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Custo Mensal (infra)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6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R$ 120 (Host)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39182617" name="Image 0" descr="https://kimi-img.moonshot.cn/pub/slides/okc/wikrooqneapss/mnt/agents/output/bia_modas/images/image_1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26153" y="7985379"/>
            <a:ext cx="7651877" cy="11243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2973761" name="Shape 0"/>
          <p:cNvSpPr/>
          <p:nvPr/>
        </p:nvSpPr>
        <p:spPr bwMode="auto">
          <a:xfrm>
            <a:off x="609600" y="366141"/>
            <a:ext cx="10972800" cy="1397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34065815" name="Text 1"/>
          <p:cNvSpPr/>
          <p:nvPr/>
        </p:nvSpPr>
        <p:spPr bwMode="auto">
          <a:xfrm>
            <a:off x="609600" y="366141"/>
            <a:ext cx="10972800" cy="1397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  <a:defRPr/>
            </a:pPr>
            <a:r>
              <a:rPr lang="en-US" sz="3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Documentacao &gt;&gt; Estudo de Viabilidade</a:t>
            </a:r>
            <a:endParaRPr lang="en-US" sz="1600"/>
          </a:p>
        </p:txBody>
      </p:sp>
      <p:sp>
        <p:nvSpPr>
          <p:cNvPr id="1260148742" name="Text 2"/>
          <p:cNvSpPr/>
          <p:nvPr/>
        </p:nvSpPr>
        <p:spPr bwMode="auto">
          <a:xfrm>
            <a:off x="609600" y="1803400"/>
            <a:ext cx="10972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  <a:defRPr/>
            </a:pPr>
            <a:r>
              <a:rPr lang="en-US" sz="2000" b="1">
                <a:solidFill>
                  <a:srgbClr val="505050"/>
                </a:solidFill>
                <a:latin typeface="Calibri"/>
                <a:ea typeface="Calibri"/>
                <a:cs typeface="Calibri"/>
              </a:rPr>
              <a:t>2. Contexto e Justificativa</a:t>
            </a:r>
            <a:endParaRPr lang="en-US" sz="1600"/>
          </a:p>
        </p:txBody>
      </p:sp>
      <p:sp>
        <p:nvSpPr>
          <p:cNvPr id="1778494088" name="Shape 3"/>
          <p:cNvSpPr/>
          <p:nvPr/>
        </p:nvSpPr>
        <p:spPr bwMode="auto">
          <a:xfrm>
            <a:off x="609600" y="2387600"/>
            <a:ext cx="5334000" cy="5334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7746402" name="Text 4"/>
          <p:cNvSpPr/>
          <p:nvPr/>
        </p:nvSpPr>
        <p:spPr bwMode="auto">
          <a:xfrm>
            <a:off x="736600" y="2476500"/>
            <a:ext cx="50800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2.1 O Problema</a:t>
            </a:r>
            <a:endParaRPr lang="en-US" sz="1600"/>
          </a:p>
          <a:p>
            <a:pPr>
              <a:lnSpc>
                <a:spcPct val="130000"/>
              </a:lnSpc>
              <a:defRPr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61% das pessoas plus size relatam dificuldade para encontrar roupas adequadas nas lojas convencionais</a:t>
            </a:r>
            <a:endParaRPr lang="en-US" sz="1600"/>
          </a:p>
          <a:p>
            <a:pPr>
              <a:lnSpc>
                <a:spcPct val="130000"/>
              </a:lnSpc>
              <a:defRPr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No e-commerce, a frustracao se amplifica:</a:t>
            </a:r>
            <a:endParaRPr lang="en-US" sz="1600"/>
          </a:p>
          <a:p>
            <a:pPr>
              <a:lnSpc>
                <a:spcPct val="130000"/>
              </a:lnSpc>
              <a:defRPr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— Incerteza sobre tamanhos</a:t>
            </a:r>
            <a:endParaRPr lang="en-US" sz="1600"/>
          </a:p>
          <a:p>
            <a:pPr>
              <a:lnSpc>
                <a:spcPct val="130000"/>
              </a:lnSpc>
              <a:defRPr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— Falta de representatividade em fotos</a:t>
            </a:r>
            <a:endParaRPr lang="en-US" sz="1600"/>
          </a:p>
          <a:p>
            <a:pPr>
              <a:lnSpc>
                <a:spcPct val="130000"/>
              </a:lnSpc>
              <a:defRPr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— Guias de medidas genericos</a:t>
            </a:r>
            <a:endParaRPr lang="en-US" sz="1600"/>
          </a:p>
          <a:p>
            <a:pPr>
              <a:lnSpc>
                <a:spcPct val="130000"/>
              </a:lnSpc>
              <a:defRPr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90% dos sites negligenciam aspectos-chave:</a:t>
            </a:r>
            <a:endParaRPr lang="en-US" sz="1600"/>
          </a:p>
          <a:p>
            <a:pPr>
              <a:lnSpc>
                <a:spcPct val="130000"/>
              </a:lnSpc>
              <a:defRPr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— 82%: informacoes de tamanho insuficientes</a:t>
            </a:r>
            <a:endParaRPr lang="en-US" sz="1600"/>
          </a:p>
          <a:p>
            <a:pPr>
              <a:lnSpc>
                <a:spcPct val="130000"/>
              </a:lnSpc>
              <a:defRPr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— 21%: ausencia de fotos em modelos</a:t>
            </a:r>
            <a:endParaRPr lang="en-US" sz="1600"/>
          </a:p>
          <a:p>
            <a:pPr>
              <a:lnSpc>
                <a:spcPct val="130000"/>
              </a:lnSpc>
              <a:defRPr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— 76%: falta de subscores de 'caimento'</a:t>
            </a:r>
            <a:endParaRPr lang="en-US" sz="1600"/>
          </a:p>
        </p:txBody>
      </p:sp>
      <p:sp>
        <p:nvSpPr>
          <p:cNvPr id="1051665649" name="Shape 5"/>
          <p:cNvSpPr/>
          <p:nvPr/>
        </p:nvSpPr>
        <p:spPr bwMode="auto">
          <a:xfrm>
            <a:off x="6146800" y="2387600"/>
            <a:ext cx="5435600" cy="5334000"/>
          </a:xfrm>
          <a:prstGeom prst="rect">
            <a:avLst/>
          </a:prstGeom>
          <a:solidFill>
            <a:srgbClr val="F0F5F0"/>
          </a:solidFill>
          <a:ln/>
        </p:spPr>
      </p:sp>
      <p:sp>
        <p:nvSpPr>
          <p:cNvPr id="1590843643" name="Text 6"/>
          <p:cNvSpPr/>
          <p:nvPr/>
        </p:nvSpPr>
        <p:spPr bwMode="auto">
          <a:xfrm>
            <a:off x="6273800" y="2476500"/>
            <a:ext cx="51816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2.2 A Oportunidade</a:t>
            </a:r>
            <a:endParaRPr lang="en-US" sz="1600"/>
          </a:p>
          <a:p>
            <a:pPr>
              <a:lnSpc>
                <a:spcPct val="130000"/>
              </a:lnSpc>
              <a:defRPr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Publico plus size representa fatia crescente do mercado</a:t>
            </a:r>
            <a:endParaRPr lang="en-US" sz="1600"/>
          </a:p>
          <a:p>
            <a:pPr>
              <a:lnSpc>
                <a:spcPct val="130000"/>
              </a:lnSpc>
              <a:defRPr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Segmento feminino: </a:t>
            </a:r>
            <a:r>
              <a:rPr lang="en-US" sz="15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67,29%</a:t>
            </a: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da participacao</a:t>
            </a:r>
            <a:endParaRPr lang="en-US" sz="1600"/>
          </a:p>
          <a:p>
            <a:pPr>
              <a:lnSpc>
                <a:spcPct val="130000"/>
              </a:lnSpc>
              <a:defRPr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Faixa 26-40 anos lidera: </a:t>
            </a:r>
            <a:r>
              <a:rPr lang="en-US" sz="15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33,60%</a:t>
            </a:r>
            <a:endParaRPr lang="en-US" sz="1600"/>
          </a:p>
          <a:p>
            <a:pPr>
              <a:lnSpc>
                <a:spcPct val="130000"/>
              </a:lnSpc>
              <a:defRPr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Faixa 16-25 anos: crescimento mais acelerado (</a:t>
            </a:r>
            <a:r>
              <a:rPr lang="en-US" sz="15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6,82% CAGR</a:t>
            </a: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</a:t>
            </a:r>
            <a:endParaRPr lang="en-US" sz="1600"/>
          </a:p>
          <a:p>
            <a:pPr>
              <a:lnSpc>
                <a:spcPct val="130000"/>
              </a:lnSpc>
              <a:defRPr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64% dos brasileiros acreditam que marcas de moda ajudam na autoestima</a:t>
            </a:r>
            <a:endParaRPr lang="en-US" sz="1600"/>
          </a:p>
          <a:p>
            <a:pPr>
              <a:lnSpc>
                <a:spcPct val="13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Proposta de valor:</a:t>
            </a: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autoestima, empoderamento e pertencimento</a:t>
            </a:r>
            <a:endParaRPr lang="en-US" sz="1600"/>
          </a:p>
        </p:txBody>
      </p:sp>
      <p:pic>
        <p:nvPicPr>
          <p:cNvPr id="1469175249" name="Image 0" descr="https://kimi-img.moonshot.cn/pub/slides/okc/wikrooqneapss/mnt/agents/output/bia_modas/images/image_1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26153" y="7985379"/>
            <a:ext cx="7651877" cy="11243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0111476" name="Shape 0"/>
          <p:cNvSpPr/>
          <p:nvPr/>
        </p:nvSpPr>
        <p:spPr bwMode="auto">
          <a:xfrm>
            <a:off x="609600" y="366141"/>
            <a:ext cx="10972800" cy="1397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00738606" name="Text 1"/>
          <p:cNvSpPr/>
          <p:nvPr/>
        </p:nvSpPr>
        <p:spPr bwMode="auto">
          <a:xfrm>
            <a:off x="609600" y="366141"/>
            <a:ext cx="10972800" cy="1397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  <a:defRPr/>
            </a:pPr>
            <a:r>
              <a:rPr lang="en-US" sz="3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Documentacao &gt;&gt; Estudo de Viabilidade</a:t>
            </a:r>
            <a:endParaRPr lang="en-US" sz="1600"/>
          </a:p>
        </p:txBody>
      </p:sp>
      <p:sp>
        <p:nvSpPr>
          <p:cNvPr id="819113065" name="Text 2"/>
          <p:cNvSpPr/>
          <p:nvPr/>
        </p:nvSpPr>
        <p:spPr bwMode="auto">
          <a:xfrm>
            <a:off x="609600" y="1803400"/>
            <a:ext cx="10972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  <a:defRPr/>
            </a:pPr>
            <a:r>
              <a:rPr lang="en-US" sz="2000" b="1">
                <a:solidFill>
                  <a:srgbClr val="505050"/>
                </a:solidFill>
                <a:latin typeface="Calibri"/>
                <a:ea typeface="Calibri"/>
                <a:cs typeface="Calibri"/>
              </a:rPr>
              <a:t>3. Analise de Mercado + 6. Analise de Riscos</a:t>
            </a:r>
            <a:endParaRPr lang="en-US" sz="1600"/>
          </a:p>
        </p:txBody>
      </p:sp>
      <p:sp>
        <p:nvSpPr>
          <p:cNvPr id="1999499773" name="Text 3"/>
          <p:cNvSpPr/>
          <p:nvPr/>
        </p:nvSpPr>
        <p:spPr bwMode="auto">
          <a:xfrm>
            <a:off x="609600" y="2349500"/>
            <a:ext cx="109728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Mercado Global:</a:t>
            </a: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US$ 244,85 bilhoes (2025) → US$ 395,60 bilhoes (2034) | CAGR 5,31%</a:t>
            </a:r>
            <a:endParaRPr lang="en-US" sz="1600"/>
          </a:p>
          <a:p>
            <a:pPr>
              <a:lnSpc>
                <a:spcPct val="13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Mercado Brasil:</a:t>
            </a: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R$ 9,6 bilhoes (2021) → R$ 15 bilhoes (2027) | Crescimento 75,4%</a:t>
            </a:r>
            <a:endParaRPr lang="en-US" sz="1600"/>
          </a:p>
          <a:p>
            <a:pPr>
              <a:lnSpc>
                <a:spcPct val="13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Tendencias 2026:</a:t>
            </a: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Autenticidade (83% dos brasileiros) | Conforto e bem-estar | Tecnologia (IA, provadores virtuais) | Sustentabilidade</a:t>
            </a:r>
            <a:endParaRPr lang="en-US" sz="1600"/>
          </a:p>
        </p:txBody>
      </p:sp>
      <p:graphicFrame>
        <p:nvGraphicFramePr>
          <p:cNvPr id="207672974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609600" y="4889500"/>
          <a:ext cx="10972800" cy="29845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3072384"/>
                <a:gridCol w="1536192"/>
                <a:gridCol w="1316736"/>
                <a:gridCol w="5047488"/>
              </a:tblGrid>
              <a:tr h="422697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Risco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Prob.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Impacto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Mitigacao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C0504D"/>
                    </a:solidFill>
                  </a:tcPr>
                </a:tc>
              </a:tr>
              <a:tr h="512361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Escopo crescer alem do MVP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Alta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Alto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Sprints fixas, priorizacao rigorosa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361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Inconsistencia de tamanhos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AF0F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Alta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AF0F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Alto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AF0F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Padronizacao interna, guia de medidas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AF0F0"/>
                    </a:solidFill>
                  </a:tcPr>
                </a:tc>
              </a:tr>
              <a:tr h="512361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Concorrencia de grandes players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Alta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Medio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Diferenciacao por UX e nicho especifico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361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Equipe pequena com turnover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AF0F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Media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AF0F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Alto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AF0F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Documentacao tecnica, pair programming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AF0F0"/>
                    </a:solidFill>
                  </a:tcPr>
                </a:tc>
              </a:tr>
              <a:tr h="512361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Baixa adocao inicial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Media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Alto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Beta fechado, coleta de feedback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62264073" name="Image 0" descr="https://kimi-img.moonshot.cn/pub/slides/okc/wikrooqneapss/mnt/agents/output/bia_modas/images/image_1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26153" y="7985379"/>
            <a:ext cx="7651877" cy="11243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3798690" name="Shape 0"/>
          <p:cNvSpPr/>
          <p:nvPr/>
        </p:nvSpPr>
        <p:spPr bwMode="auto">
          <a:xfrm>
            <a:off x="609600" y="366141"/>
            <a:ext cx="10972800" cy="1397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62436860" name="Text 1"/>
          <p:cNvSpPr/>
          <p:nvPr/>
        </p:nvSpPr>
        <p:spPr bwMode="auto">
          <a:xfrm>
            <a:off x="609600" y="366141"/>
            <a:ext cx="10972800" cy="1397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  <a:defRPr/>
            </a:pPr>
            <a:r>
              <a:rPr lang="en-US" sz="3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Documentacao &gt;&gt; Estudo de Viabilidade</a:t>
            </a:r>
            <a:endParaRPr lang="en-US" sz="1600"/>
          </a:p>
        </p:txBody>
      </p:sp>
      <p:sp>
        <p:nvSpPr>
          <p:cNvPr id="153399571" name="Text 2"/>
          <p:cNvSpPr/>
          <p:nvPr/>
        </p:nvSpPr>
        <p:spPr bwMode="auto">
          <a:xfrm>
            <a:off x="609600" y="1803400"/>
            <a:ext cx="10972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  <a:defRPr/>
            </a:pPr>
            <a:r>
              <a:rPr lang="en-US" sz="2000" b="1">
                <a:solidFill>
                  <a:srgbClr val="505050"/>
                </a:solidFill>
                <a:latin typeface="Calibri"/>
                <a:ea typeface="Calibri"/>
                <a:cs typeface="Calibri"/>
              </a:rPr>
              <a:t>7. Conclusao e Recomendacoes</a:t>
            </a:r>
            <a:endParaRPr lang="en-US" sz="1600"/>
          </a:p>
        </p:txBody>
      </p:sp>
      <p:sp>
        <p:nvSpPr>
          <p:cNvPr id="744760247" name="Shape 3"/>
          <p:cNvSpPr/>
          <p:nvPr/>
        </p:nvSpPr>
        <p:spPr bwMode="auto">
          <a:xfrm>
            <a:off x="609600" y="2387600"/>
            <a:ext cx="10972800" cy="635000"/>
          </a:xfrm>
          <a:prstGeom prst="rect">
            <a:avLst/>
          </a:prstGeom>
          <a:solidFill>
            <a:srgbClr val="4F81BD"/>
          </a:solidFill>
          <a:ln/>
        </p:spPr>
      </p:sp>
      <p:sp>
        <p:nvSpPr>
          <p:cNvPr id="440948753" name="Text 4"/>
          <p:cNvSpPr/>
          <p:nvPr/>
        </p:nvSpPr>
        <p:spPr bwMode="auto">
          <a:xfrm>
            <a:off x="609600" y="2387600"/>
            <a:ext cx="109728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VIAVEL E ALTAMENTE RECOMENDADO</a:t>
            </a:r>
            <a:endParaRPr lang="en-US" sz="1600"/>
          </a:p>
        </p:txBody>
      </p:sp>
      <p:sp>
        <p:nvSpPr>
          <p:cNvPr id="685810674" name="Text 5"/>
          <p:cNvSpPr/>
          <p:nvPr/>
        </p:nvSpPr>
        <p:spPr bwMode="auto">
          <a:xfrm>
            <a:off x="609600" y="3175000"/>
            <a:ext cx="109728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  <a:defRPr/>
            </a:pPr>
            <a:r>
              <a:rPr lang="en-US" sz="17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Fatores de viabilidade:</a:t>
            </a:r>
            <a:endParaRPr lang="en-US" sz="1600"/>
          </a:p>
          <a:p>
            <a:pPr>
              <a:lnSpc>
                <a:spcPct val="130000"/>
              </a:lnSpc>
              <a:defRPr/>
            </a:pPr>
            <a:r>
              <a:rPr lang="en-US" sz="17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Mercado em expansao acelerada com demanda reprimida e pouca oferta</a:t>
            </a:r>
            <a:endParaRPr lang="en-US" sz="1600"/>
          </a:p>
          <a:p>
            <a:pPr>
              <a:lnSpc>
                <a:spcPct val="130000"/>
              </a:lnSpc>
              <a:defRPr/>
            </a:pPr>
            <a:r>
              <a:rPr lang="en-US" sz="17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Diferencial competitivo claro: UX especializada para publico negligenciado</a:t>
            </a:r>
            <a:endParaRPr lang="en-US" sz="1600"/>
          </a:p>
          <a:p>
            <a:pPr>
              <a:lnSpc>
                <a:spcPct val="130000"/>
              </a:lnSpc>
              <a:defRPr/>
            </a:pPr>
            <a:r>
              <a:rPr lang="en-US" sz="17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Stack tecnologica moderna e acessivel para equipe de 5 desenvolvedores</a:t>
            </a:r>
            <a:endParaRPr lang="en-US" sz="1600"/>
          </a:p>
          <a:p>
            <a:pPr>
              <a:lnSpc>
                <a:spcPct val="130000"/>
              </a:lnSpc>
              <a:defRPr/>
            </a:pPr>
            <a:r>
              <a:rPr lang="en-US" sz="17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Custo inicial controlado (R$ 0), com possibilidade de bootstrapping</a:t>
            </a:r>
            <a:endParaRPr lang="en-US" sz="1600"/>
          </a:p>
          <a:p>
            <a:pPr>
              <a:lnSpc>
                <a:spcPct val="130000"/>
              </a:lnSpc>
              <a:defRPr/>
            </a:pPr>
            <a:r>
              <a:rPr lang="en-US" sz="17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Modelo escalavel: catalogo pode evoluir para e-commerce completo</a:t>
            </a:r>
            <a:endParaRPr lang="en-US" sz="1600"/>
          </a:p>
        </p:txBody>
      </p:sp>
      <p:sp>
        <p:nvSpPr>
          <p:cNvPr id="308851913" name="Text 6"/>
          <p:cNvSpPr/>
          <p:nvPr/>
        </p:nvSpPr>
        <p:spPr bwMode="auto">
          <a:xfrm>
            <a:off x="609600" y="5715000"/>
            <a:ext cx="109728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  <a:defRPr/>
            </a:pPr>
            <a:r>
              <a:rPr lang="en-US" sz="17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Proximos Passos Imediatos:</a:t>
            </a:r>
            <a:endParaRPr lang="en-US" sz="1600"/>
          </a:p>
          <a:p>
            <a:pPr>
              <a:lnSpc>
                <a:spcPct val="130000"/>
              </a:lnSpc>
              <a:defRPr/>
            </a:pPr>
            <a:r>
              <a:rPr lang="en-US" sz="17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Semana 1:</a:t>
            </a:r>
            <a:r>
              <a:rPr lang="en-US" sz="17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Definir Product Owner e validar protótipo com 5 usuarios plus size</a:t>
            </a:r>
            <a:endParaRPr lang="en-US" sz="1600"/>
          </a:p>
          <a:p>
            <a:pPr>
              <a:lnSpc>
                <a:spcPct val="130000"/>
              </a:lnSpc>
              <a:defRPr/>
            </a:pPr>
            <a:r>
              <a:rPr lang="en-US" sz="17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Semana 2:</a:t>
            </a:r>
            <a:r>
              <a:rPr lang="en-US" sz="17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Fechar contrato com fornecedores e agencia de modelos inclusivos</a:t>
            </a:r>
            <a:endParaRPr lang="en-US" sz="1600"/>
          </a:p>
          <a:p>
            <a:pPr>
              <a:lnSpc>
                <a:spcPct val="130000"/>
              </a:lnSpc>
              <a:defRPr/>
            </a:pPr>
            <a:r>
              <a:rPr lang="en-US" sz="17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Semana 3:</a:t>
            </a:r>
            <a:r>
              <a:rPr lang="en-US" sz="17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Iniciar Sprint 0 (setup tecnico e design system)</a:t>
            </a:r>
            <a:endParaRPr lang="en-US" sz="1600"/>
          </a:p>
          <a:p>
            <a:pPr>
              <a:lnSpc>
                <a:spcPct val="130000"/>
              </a:lnSpc>
              <a:defRPr/>
            </a:pPr>
            <a:r>
              <a:rPr lang="en-US" sz="17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Semana 4:</a:t>
            </a:r>
            <a:r>
              <a:rPr lang="en-US" sz="17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Publicar landing page de captura de e-mails para base beta</a:t>
            </a:r>
            <a:endParaRPr lang="en-US" sz="1600"/>
          </a:p>
        </p:txBody>
      </p:sp>
      <p:pic>
        <p:nvPicPr>
          <p:cNvPr id="1477696064" name="Image 0" descr="https://kimi-img.moonshot.cn/pub/slides/okc/wikrooqneapss/mnt/agents/output/bia_modas/images/image_1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26153" y="7985379"/>
            <a:ext cx="7651877" cy="11243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3300193" name="Shape 0"/>
          <p:cNvSpPr/>
          <p:nvPr/>
        </p:nvSpPr>
        <p:spPr bwMode="auto">
          <a:xfrm>
            <a:off x="609600" y="366141"/>
            <a:ext cx="10972800" cy="1524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85247364" name="Text 1"/>
          <p:cNvSpPr/>
          <p:nvPr/>
        </p:nvSpPr>
        <p:spPr bwMode="auto">
          <a:xfrm>
            <a:off x="609600" y="366141"/>
            <a:ext cx="109728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  <a:defRPr/>
            </a:pPr>
            <a:r>
              <a:rPr lang="en-US" sz="3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Documentacao &gt;&gt; Req. Funcionais (1/2)</a:t>
            </a:r>
            <a:endParaRPr lang="en-US" sz="1600"/>
          </a:p>
        </p:txBody>
      </p:sp>
      <p:graphicFrame>
        <p:nvGraphicFramePr>
          <p:cNvPr id="1192315702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609600" y="1968500"/>
          <a:ext cx="10972800" cy="59055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097280"/>
                <a:gridCol w="2194560"/>
                <a:gridCol w="7680960"/>
              </a:tblGrid>
              <a:tr h="473977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Codigo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Nome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Descricao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4F81BD"/>
                    </a:solidFill>
                  </a:tcPr>
                </a:tc>
              </a:tr>
              <a:tr h="678940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RF01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Cadastro de Usuario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 sistema devera permitir que o usuario realize seu cadastro fornecendo informacoes pessoais (nome, CPF, RG, data de nascimento, endereco, telefone), e-mail e senha.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8940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RF02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Autenticacao de Usuario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 sistema devera permitir que usuarios previamente cadastrados acessem a plataforma por meio de autenticacao utilizando e-mail e senha.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EDF2F7"/>
                    </a:solidFill>
                  </a:tcPr>
                </a:tc>
              </a:tr>
              <a:tr h="678940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RF03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Carrossel de Produtos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 sistema devera apresentar na pagina inicial carrosseis de produtos organizados por categorias, incluindo itens visualizados recentemente e recomendacoes baseadas no comportamento do usuario.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8940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RF04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Barra de Pesquisa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 sistema devera disponibilizar funcionalidade de busca com sugestoes automaticas durante a digitacao e redirecionamento para pagina de resultados.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EDF2F7"/>
                    </a:solidFill>
                  </a:tcPr>
                </a:tc>
              </a:tr>
              <a:tr h="678940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RF05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Dashboard Administrativa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 sistema devera disponibilizar uma area restrita para administradores contendo uma dashboard com funcionalidades de controle e gerenciamento da plataforma.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8940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RF06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Gestao Administrativa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 sistema devera permitir ao administrador realizar operacoes CRUD de usuarios e produtos, bem como gerenciar promocoes e descontos.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EDF2F7"/>
                    </a:solidFill>
                  </a:tcPr>
                </a:tc>
              </a:tr>
              <a:tr h="678940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RF07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Recomendacoes Personalizadas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 sistema devera permitir, mediante autorizacao do usuario, a coleta e processamento de dados para geracao de recomendacoes personalizadas por meio de API externa.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8940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RF08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Catalogo de Produtos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 sistema devera permitir que o usuario acesse o catalogo completo e visualize informacoes detalhadas, incluindo descricao, especificacoes, imagens, preco e avaliacoes.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pic>
        <p:nvPicPr>
          <p:cNvPr id="1128934012" name="Image 0" descr="https://kimi-img.moonshot.cn/pub/slides/okc/wikrooqneapss/mnt/agents/output/bia_modas/images/image_1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26153" y="7985379"/>
            <a:ext cx="7651877" cy="11243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1218394" name="Shape 0"/>
          <p:cNvSpPr/>
          <p:nvPr/>
        </p:nvSpPr>
        <p:spPr bwMode="auto">
          <a:xfrm>
            <a:off x="609600" y="366141"/>
            <a:ext cx="10972800" cy="1524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97147379" name="Text 1"/>
          <p:cNvSpPr/>
          <p:nvPr/>
        </p:nvSpPr>
        <p:spPr bwMode="auto">
          <a:xfrm>
            <a:off x="609600" y="366141"/>
            <a:ext cx="109728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  <a:defRPr/>
            </a:pPr>
            <a:r>
              <a:rPr lang="en-US" sz="3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Documentacao &gt;&gt; Req. Funcionais (2/2)</a:t>
            </a:r>
            <a:endParaRPr lang="en-US" sz="1600"/>
          </a:p>
        </p:txBody>
      </p:sp>
      <p:graphicFrame>
        <p:nvGraphicFramePr>
          <p:cNvPr id="1709790211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609600" y="1968500"/>
          <a:ext cx="10972800" cy="59055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097280"/>
                <a:gridCol w="2194560"/>
                <a:gridCol w="7680960"/>
              </a:tblGrid>
              <a:tr h="469900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Codigo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Nome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Descricao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4F81BD"/>
                    </a:solidFill>
                  </a:tcPr>
                </a:tc>
              </a:tr>
              <a:tr h="774700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RF09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Experiencia de Compra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 sistema devera permitir que o usuario selecione produtos para compra, escolha variacoes (tamanho, cor, modelo), defina quantidades e favorite produtos.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4700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RF10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Carrinho de Compras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 sistema devera permitir que o usuario adicione produtos ao carrinho, visualize a lista de produtos selecionados com valor total e finalize a compra com integracao com sistemas de pagamento.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EDF2F7"/>
                    </a:solidFill>
                  </a:tcPr>
                </a:tc>
              </a:tr>
              <a:tr h="774700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RF11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Historico de Pedidos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 sistema devera permitir que o usuario visualize o historico de pedidos realizados anteriormente.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4700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RF12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Recuperacao de Senha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 sistema devera permitir que o usuario recupere sua senha por meio de um processo de redefinicao via e-mail.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EDF2F7"/>
                    </a:solidFill>
                  </a:tcPr>
                </a:tc>
              </a:tr>
              <a:tr h="774700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RF13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Avaliacao de Produtos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 sistema devera permitir que usuarios registrem avaliacoes e comentarios sobre produtos adquiridos.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4700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RF14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Filtro de Produtos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 sistema devera permitir a aplicacao de filtros para facilitar a busca por categoria, faixa de preco e relevancia.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EDF2F7"/>
                    </a:solidFill>
                  </a:tcPr>
                </a:tc>
              </a:tr>
              <a:tr h="787400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RF15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Controle de Estoque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 sistema devera realizar o controle automatico da quantidade de produtos disponiveis em estoque.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65937509" name="Image 0" descr="https://kimi-img.moonshot.cn/pub/slides/okc/wikrooqneapss/mnt/agents/output/bia_modas/images/image_1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26153" y="7985379"/>
            <a:ext cx="7651877" cy="11243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618712" name="Shape 0"/>
          <p:cNvSpPr/>
          <p:nvPr/>
        </p:nvSpPr>
        <p:spPr bwMode="auto">
          <a:xfrm>
            <a:off x="609600" y="366141"/>
            <a:ext cx="10972800" cy="1524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27532989" name="Text 1"/>
          <p:cNvSpPr/>
          <p:nvPr/>
        </p:nvSpPr>
        <p:spPr bwMode="auto">
          <a:xfrm>
            <a:off x="609600" y="366141"/>
            <a:ext cx="109728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  <a:defRPr/>
            </a:pPr>
            <a:r>
              <a:rPr lang="en-US" sz="3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Documentacao &gt;&gt; Req. Nao-Funcionais (1/2)</a:t>
            </a:r>
            <a:endParaRPr lang="en-US" sz="1600"/>
          </a:p>
        </p:txBody>
      </p:sp>
      <p:graphicFrame>
        <p:nvGraphicFramePr>
          <p:cNvPr id="2006883262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609600" y="1968500"/>
          <a:ext cx="10972800" cy="59055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097280"/>
                <a:gridCol w="2414016"/>
                <a:gridCol w="7461504"/>
              </a:tblGrid>
              <a:tr h="473977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Codigo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Nome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Descricao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C0504D"/>
                    </a:solidFill>
                  </a:tcPr>
                </a:tc>
              </a:tr>
              <a:tr h="678940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RNF01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Desempenho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 sistema devera responder as requisicoes do usuario em ate 2 segundos em condicoes normais de uso.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8940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RNF02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AF0F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Escalabilidade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AF0F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 sistema devera suportar multiplos acessos simultaneos sem degradacao significativa de desempenho.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AF0F0"/>
                    </a:solidFill>
                  </a:tcPr>
                </a:tc>
              </a:tr>
              <a:tr h="678940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RNF03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Disponibilidade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 sistema devera estar disponivel 24 horas por dia, 7 dias por semana, com taxa minima de disponibilidade de 99%.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8940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RNF04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AF0F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Seguranca de Dados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AF0F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 sistema devera garantir a protecao dos dados dos usuarios por meio de criptografia e boas praticas de seguranca.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AF0F0"/>
                    </a:solidFill>
                  </a:tcPr>
                </a:tc>
              </a:tr>
              <a:tr h="678940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RNF05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Autenticacao Segura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 sistema devera armazenar senhas de forma criptografada e implementar mecanismos de autenticacao segura.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8940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RNF06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AF0F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Protecao de Acessos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AF0F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 sistema devera restringir o acesso a area administrativa apenas a usuarios autorizados.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AF0F0"/>
                    </a:solidFill>
                  </a:tcPr>
                </a:tc>
              </a:tr>
              <a:tr h="678940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RNF07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Conformidade LGPD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 sistema devera seguir as diretrizes da Lei Geral de Protecao de Dados (LGPD).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8940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RNF08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AF0F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Usabilidade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AF0F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 sistema devera possuir interface intuitiva e de facil navegacao para usuarios de diferentes niveis de experiencia.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AF0F0"/>
                    </a:solidFill>
                  </a:tcPr>
                </a:tc>
              </a:tr>
            </a:tbl>
          </a:graphicData>
        </a:graphic>
      </p:graphicFrame>
      <p:pic>
        <p:nvPicPr>
          <p:cNvPr id="891854061" name="Image 0" descr="https://kimi-img.moonshot.cn/pub/slides/okc/wikrooqneapss/mnt/agents/output/bia_modas/images/image_1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26153" y="7985379"/>
            <a:ext cx="7651877" cy="11243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4477972" name="Shape 0"/>
          <p:cNvSpPr/>
          <p:nvPr/>
        </p:nvSpPr>
        <p:spPr bwMode="auto">
          <a:xfrm>
            <a:off x="609600" y="366141"/>
            <a:ext cx="10972800" cy="1524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803725" name="Text 1"/>
          <p:cNvSpPr/>
          <p:nvPr/>
        </p:nvSpPr>
        <p:spPr bwMode="auto">
          <a:xfrm>
            <a:off x="609600" y="366141"/>
            <a:ext cx="109728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  <a:defRPr/>
            </a:pPr>
            <a:r>
              <a:rPr lang="en-US" sz="3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Documentacao &gt;&gt; Req. Nao-Funcionais (2/2)</a:t>
            </a:r>
            <a:endParaRPr lang="en-US" sz="1600"/>
          </a:p>
        </p:txBody>
      </p:sp>
      <p:graphicFrame>
        <p:nvGraphicFramePr>
          <p:cNvPr id="227545342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609600" y="1968500"/>
          <a:ext cx="10972800" cy="59055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097280"/>
                <a:gridCol w="2414016"/>
                <a:gridCol w="7461504"/>
              </a:tblGrid>
              <a:tr h="469900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Codigo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Nome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Descricao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C0504D"/>
                    </a:solidFill>
                  </a:tcPr>
                </a:tc>
              </a:tr>
              <a:tr h="774700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RNF09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Responsividade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 sistema devera ser compativel com diferentes dispositivos e tamanhos de tela (desktop, tablet e mobile).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4700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RNF10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AF0F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Compatibilidade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AF0F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 sistema devera funcionar corretamente nos principais navegadores (Chrome, Edge, Firefox e Safari).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AF0F0"/>
                    </a:solidFill>
                  </a:tcPr>
                </a:tc>
              </a:tr>
              <a:tr h="774700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RNF11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Manutenibilidade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 sistema devera possuir codigo organizado e documentado, facilitando manutencao e evolucao futura.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4700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RNF12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AF0F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Integracao com APIs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AF0F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 sistema devera garantir comunicacao eficiente e segura com APIs externas em tempo real.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AF0F0"/>
                    </a:solidFill>
                  </a:tcPr>
                </a:tc>
              </a:tr>
              <a:tr h="774700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RNF13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Confiabilidade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 sistema devera garantir consistencia dos dados, evitando perdas ou inconsistencias durante operacoes.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4700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RNF14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AF0F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Backup de Dados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AF0F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 sistema devera realizar backups periodicos das informacoes armazenadas.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AF0F0"/>
                    </a:solidFill>
                  </a:tcPr>
                </a:tc>
              </a:tr>
              <a:tr h="787400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RNF15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Tempo de Recuperacao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110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 sistema devera ser capaz de restaurar seus servicos em ate 1 hora em caso de falhas criticas.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0" marB="0" anchor="ctr">
                    <a:lnL w="12700" algn="ctr">
                      <a:solidFill>
                        <a:srgbClr val="D0D0D0"/>
                      </a:solidFill>
                    </a:lnL>
                    <a:lnR w="12700" algn="ctr">
                      <a:solidFill>
                        <a:srgbClr val="D0D0D0"/>
                      </a:solidFill>
                    </a:lnR>
                    <a:lnT w="12700" algn="ctr">
                      <a:solidFill>
                        <a:srgbClr val="D0D0D0"/>
                      </a:solidFill>
                    </a:lnT>
                    <a:lnB w="12700" algn="ctr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961351187" name="Image 0" descr="https://kimi-img.moonshot.cn/pub/slides/okc/wikrooqneapss/mnt/agents/output/bia_modas/images/image_1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26153" y="7985379"/>
            <a:ext cx="7651877" cy="11243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0874107" name="Shape 0"/>
          <p:cNvSpPr/>
          <p:nvPr/>
        </p:nvSpPr>
        <p:spPr bwMode="auto">
          <a:xfrm>
            <a:off x="609600" y="366141"/>
            <a:ext cx="10972800" cy="1524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25844636" name="Text 1"/>
          <p:cNvSpPr/>
          <p:nvPr/>
        </p:nvSpPr>
        <p:spPr bwMode="auto">
          <a:xfrm>
            <a:off x="609600" y="366141"/>
            <a:ext cx="109728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  <a:defRPr/>
            </a:pPr>
            <a:r>
              <a:rPr lang="en-US" sz="4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Documentacao &gt;&gt; Modelo Canvas</a:t>
            </a:r>
            <a:endParaRPr lang="en-US" sz="1600"/>
          </a:p>
        </p:txBody>
      </p:sp>
      <p:pic>
        <p:nvPicPr>
          <p:cNvPr id="1755506259" name="Image 0" descr="https://kimi-img.moonshot.cn/pub/slides/okc/wikrooqneapss/mnt/agents/output/bia_modas/images/canvas_modelo.jpeg"/>
          <p:cNvPicPr>
            <a:picLocks noChangeAspect="1"/>
          </p:cNvPicPr>
          <p:nvPr/>
        </p:nvPicPr>
        <p:blipFill rotWithShape="1">
          <a:blip r:embed="rId3"/>
          <a:srcRect l="-2160" t="0" r="-2161" b="0"/>
          <a:stretch/>
        </p:blipFill>
        <p:spPr bwMode="auto">
          <a:xfrm>
            <a:off x="609600" y="1968500"/>
            <a:ext cx="10972800" cy="5905500"/>
          </a:xfrm>
          <a:prstGeom prst="rect">
            <a:avLst/>
          </a:prstGeom>
        </p:spPr>
      </p:pic>
      <p:pic>
        <p:nvPicPr>
          <p:cNvPr id="1964369521" name="Image 1" descr="https://kimi-img.moonshot.cn/pub/slides/okc/wikrooqneapss/mnt/agents/output/bia_modas/images/image_1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526153" y="7985379"/>
            <a:ext cx="7651877" cy="11243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3633206" name="Shape 0"/>
          <p:cNvSpPr/>
          <p:nvPr/>
        </p:nvSpPr>
        <p:spPr bwMode="auto">
          <a:xfrm>
            <a:off x="609600" y="366141"/>
            <a:ext cx="10972800" cy="1524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80410889" name="Text 1"/>
          <p:cNvSpPr/>
          <p:nvPr/>
        </p:nvSpPr>
        <p:spPr bwMode="auto">
          <a:xfrm>
            <a:off x="609600" y="366141"/>
            <a:ext cx="109728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  <a:defRPr/>
            </a:pPr>
            <a:r>
              <a:rPr lang="en-US" sz="58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Prototipo</a:t>
            </a:r>
            <a:endParaRPr lang="en-US" sz="1600"/>
          </a:p>
        </p:txBody>
      </p:sp>
      <p:sp>
        <p:nvSpPr>
          <p:cNvPr id="615516640" name="Shape 2"/>
          <p:cNvSpPr/>
          <p:nvPr/>
        </p:nvSpPr>
        <p:spPr bwMode="auto">
          <a:xfrm>
            <a:off x="609600" y="1968500"/>
            <a:ext cx="10972800" cy="762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52248109" name="Text 3"/>
          <p:cNvSpPr/>
          <p:nvPr/>
        </p:nvSpPr>
        <p:spPr bwMode="auto">
          <a:xfrm>
            <a:off x="609600" y="1968500"/>
            <a:ext cx="10972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  <a:defRPr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Rodar localmente</a:t>
            </a:r>
            <a:endParaRPr lang="en-US" sz="1600"/>
          </a:p>
        </p:txBody>
      </p:sp>
      <p:pic>
        <p:nvPicPr>
          <p:cNvPr id="499016517" name="Image 0" descr="https://kimi-img.moonshot.cn/pub/slides/okc/wikrooqneapss/mnt/agents/output/bia_modas/images/image_1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26153" y="7985379"/>
            <a:ext cx="7651877" cy="11243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1435834" name="Shape 0"/>
          <p:cNvSpPr/>
          <p:nvPr/>
        </p:nvSpPr>
        <p:spPr bwMode="auto">
          <a:xfrm>
            <a:off x="609600" y="366141"/>
            <a:ext cx="10972800" cy="1524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87699472" name="Text 1"/>
          <p:cNvSpPr/>
          <p:nvPr/>
        </p:nvSpPr>
        <p:spPr bwMode="auto">
          <a:xfrm>
            <a:off x="609600" y="366141"/>
            <a:ext cx="109728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  <a:defRPr/>
            </a:pPr>
            <a:r>
              <a:rPr lang="en-US" sz="58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Aplicacao</a:t>
            </a:r>
            <a:endParaRPr lang="en-US" sz="1600"/>
          </a:p>
        </p:txBody>
      </p:sp>
      <p:sp>
        <p:nvSpPr>
          <p:cNvPr id="1093627762" name="Shape 2"/>
          <p:cNvSpPr/>
          <p:nvPr/>
        </p:nvSpPr>
        <p:spPr bwMode="auto">
          <a:xfrm>
            <a:off x="609600" y="1968500"/>
            <a:ext cx="10972800" cy="1524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23480681" name="Text 3"/>
          <p:cNvSpPr/>
          <p:nvPr/>
        </p:nvSpPr>
        <p:spPr bwMode="auto">
          <a:xfrm>
            <a:off x="609600" y="1968500"/>
            <a:ext cx="109728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  <a:defRPr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</a:t>
            </a:r>
            <a:r>
              <a:rPr lang="en-US" sz="32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https://github.com/orgs/Syntax-Softwares</a:t>
            </a:r>
            <a:endParaRPr lang="en-US" sz="1600"/>
          </a:p>
        </p:txBody>
      </p:sp>
      <p:pic>
        <p:nvPicPr>
          <p:cNvPr id="1708280933" name="Image 0" descr="https://kimi-img.moonshot.cn/pub/slides/okc/wikrooqneapss/mnt/agents/output/bia_modas/images/image_1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26153" y="7985379"/>
            <a:ext cx="7651877" cy="11243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7366192" name="Shape 0"/>
          <p:cNvSpPr/>
          <p:nvPr/>
        </p:nvSpPr>
        <p:spPr bwMode="auto">
          <a:xfrm>
            <a:off x="609600" y="366141"/>
            <a:ext cx="10972800" cy="1524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5320551" name="Text 1"/>
          <p:cNvSpPr/>
          <p:nvPr/>
        </p:nvSpPr>
        <p:spPr bwMode="auto">
          <a:xfrm>
            <a:off x="609600" y="366141"/>
            <a:ext cx="109728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  <a:defRPr/>
            </a:pPr>
            <a:r>
              <a:rPr lang="en-US" sz="58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Referencias</a:t>
            </a:r>
            <a:endParaRPr lang="en-US" sz="1600"/>
          </a:p>
        </p:txBody>
      </p:sp>
      <p:sp>
        <p:nvSpPr>
          <p:cNvPr id="233662647" name="Shape 2"/>
          <p:cNvSpPr/>
          <p:nvPr/>
        </p:nvSpPr>
        <p:spPr bwMode="auto">
          <a:xfrm>
            <a:off x="609600" y="1968500"/>
            <a:ext cx="10972800" cy="5905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18138872" name="Text 3"/>
          <p:cNvSpPr/>
          <p:nvPr/>
        </p:nvSpPr>
        <p:spPr bwMode="auto">
          <a:xfrm>
            <a:off x="609600" y="1968500"/>
            <a:ext cx="10972800" cy="590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5000"/>
              </a:lnSpc>
              <a:defRPr/>
            </a:pPr>
            <a:r>
              <a:rPr lang="en-US" sz="22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Principais referências utilizadas:</a:t>
            </a:r>
            <a:endParaRPr lang="en-US" sz="1600"/>
          </a:p>
          <a:p>
            <a:pPr>
              <a:lnSpc>
                <a:spcPct val="135000"/>
              </a:lnSpc>
              <a:defRPr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Associação Brasil Plus Size (ABPS) — Projeções de mercado 2025-2027</a:t>
            </a:r>
            <a:endParaRPr lang="en-US" sz="1600"/>
          </a:p>
          <a:p>
            <a:pPr>
              <a:lnSpc>
                <a:spcPct val="135000"/>
              </a:lnSpc>
              <a:defRPr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Fortune Business Insights — Plus Size Clothing Market Report 2025-2034</a:t>
            </a:r>
            <a:endParaRPr lang="en-US" sz="1600"/>
          </a:p>
          <a:p>
            <a:pPr>
              <a:lnSpc>
                <a:spcPct val="135000"/>
              </a:lnSpc>
              <a:defRPr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Baymard Institute — 5 Apparel UX Best Practices (2022)</a:t>
            </a:r>
            <a:endParaRPr lang="en-US" sz="1600"/>
          </a:p>
          <a:p>
            <a:pPr>
              <a:lnSpc>
                <a:spcPct val="135000"/>
              </a:lnSpc>
              <a:defRPr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Sizebay — Como melhorar o UX do e-commerce de moda (2025)</a:t>
            </a:r>
            <a:endParaRPr lang="en-US" sz="1600"/>
          </a:p>
          <a:p>
            <a:pPr>
              <a:lnSpc>
                <a:spcPct val="135000"/>
              </a:lnSpc>
              <a:defRPr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Construsite Brasil — Estratégias para vender roupas plus size (2023)</a:t>
            </a:r>
            <a:endParaRPr lang="en-US" sz="1600"/>
          </a:p>
          <a:p>
            <a:pPr>
              <a:lnSpc>
                <a:spcPct val="135000"/>
              </a:lnSpc>
              <a:defRPr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Accio — Tendências de Moda Plus Size 2025-2026</a:t>
            </a:r>
            <a:endParaRPr lang="en-US" sz="1600"/>
          </a:p>
        </p:txBody>
      </p:sp>
      <p:pic>
        <p:nvPicPr>
          <p:cNvPr id="527955156" name="Image 0" descr="https://kimi-img.moonshot.cn/pub/slides/okc/wikrooqneapss/mnt/agents/output/bia_modas/images/image_1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26153" y="7985379"/>
            <a:ext cx="7651877" cy="11243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16</Slides>
  <Notes>16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Moonshot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subject>Untitled</dc:subject>
  <dc:creator>Kimi</dc:creator>
  <cp:lastModifiedBy/>
  <cp:revision>2</cp:revision>
  <dcterms:created xsi:type="dcterms:W3CDTF">2026-05-12T03:07:20Z</dcterms:created>
  <dcterms:modified xsi:type="dcterms:W3CDTF">2026-05-12T03:12:25Z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{"Label":"Untitled","ContentProducer":"001191110108MACG2KBH8F10000","ProduceID":"19e1a245-e572-8e01-8000-00008da65247","ReservedCode1":"","ContentPropagator":"001191110108MACG2KBH8F20000","PropagateID":"19e1a245-e572-8e01-8000-00008da65247","ReservedCode2":""}</vt:lpwstr>
  </property>
</Properties>
</file>